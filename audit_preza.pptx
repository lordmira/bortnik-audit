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202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Я представляю исправленную версию аудита работ партнёра по проекту GMFY. Важная правка: в исходном документе в шапке была путаница с GRU4Rec, а весь анализ был про GMFY.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проверял не только наличие разделов, но и качество логики: насколько корректно выполнены конкурентный анализ, SLA, ITIL-процессы, метрики, финансовая модель и оценка устойчивости.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четырём основным заданиям средняя нормированная оценка получилась около 85 баллов из 100. Это хороший результат. Самое слабое место — аварийное восстановление.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конкурентам и SLA работа оценена на 102 из 120. Выбраны релевантные конкуренты. Но benchmarking лучше перевести в числовую шкалу 1–5.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 ITIL и RACI оценка — 82 из 100. Процессы выбраны правильно. Но в RACI не хватает ролей QA и JSON-разработчика, а ответственность местами размыта.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Метрики и алерты оценены на 86 из 100. Плюс в том, что метрики связаны не просто с сервером, а с бизнес-функциями. Минус — нет визуального макета дашборда и runbook’ов.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Финансовая часть получила 88 из 100. Расчёт TCO и ROI понятный. Но для серьёзного обоснования нужно добавить анализ чувствительности.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Оценка самая низкая — 3,5 из 10. Это не значит, что проект плохой. Это значит, что не раскрыто, как система переживёт тяжёлые сбои.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полноты аудита описана модель предприятия GMFY Tech. Базовая инфраструктура выглядит логично, но перед масштабированием надо усилить безопасность и тесты восстановления.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Главные риски: отсутствие DRP, размытая ответственность в RACI, оптимистичные финансовые допущения и слабая визуализация мониторинга.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Приоритет P0 — исправить объект аудита, добавить DRP, сделать макет дашборда и провести анализ чувствительности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после исправления путаницы с темой аудит стал цельным. Проект GMFY имеет хорошую аналитику, но для B2B-рынка ему нужно усилить эксплуатационную зрелость.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alytics_ful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417320"/>
            <a:ext cx="585216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Аудит проекта GMFY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713232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</a:rPr>
              <a:t>B2B SaaS-платформа корпоративной геймификации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13232" y="2788920"/>
            <a:ext cx="530352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13232" y="5349240"/>
            <a:ext cx="47548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ru-RU" sz="1200" dirty="0" err="1">
                <a:solidFill>
                  <a:srgbClr val="F8FAFC"/>
                </a:solidFill>
              </a:rPr>
              <a:t>Аудитор:Бортник</a:t>
            </a:r>
            <a:r>
              <a:rPr lang="ru-RU" sz="1200" dirty="0">
                <a:solidFill>
                  <a:srgbClr val="F8FAFC"/>
                </a:solidFill>
              </a:rPr>
              <a:t> Николай</a:t>
            </a:r>
            <a:r>
              <a:rPr lang="en-US" sz="1200" dirty="0">
                <a:solidFill>
                  <a:srgbClr val="F8FAFC"/>
                </a:solidFill>
              </a:rPr>
              <a:t>· 14 </a:t>
            </a:r>
            <a:r>
              <a:rPr lang="en-US" sz="1200" dirty="0" err="1">
                <a:solidFill>
                  <a:srgbClr val="F8FAFC"/>
                </a:solidFill>
              </a:rPr>
              <a:t>группа</a:t>
            </a:r>
            <a:r>
              <a:rPr lang="en-US" sz="1200" dirty="0">
                <a:solidFill>
                  <a:srgbClr val="F8FAFC"/>
                </a:solidFill>
              </a:rPr>
              <a:t> </a:t>
            </a:r>
            <a:r>
              <a:rPr lang="ru-RU" sz="1200" dirty="0">
                <a:solidFill>
                  <a:srgbClr val="F8FAFC"/>
                </a:solidFill>
              </a:rPr>
              <a:t>-</a:t>
            </a:r>
            <a:r>
              <a:rPr lang="en-US" sz="1200" dirty="0">
                <a:solidFill>
                  <a:srgbClr val="F8FAFC"/>
                </a:solidFill>
              </a:rPr>
              <a:t> 4 </a:t>
            </a:r>
            <a:r>
              <a:rPr lang="en-US" sz="1200" dirty="0" err="1">
                <a:solidFill>
                  <a:srgbClr val="F8FAFC"/>
                </a:solidFill>
              </a:rPr>
              <a:t>курс</a:t>
            </a:r>
            <a:endParaRPr lang="ru-RU" sz="1200" dirty="0">
              <a:solidFill>
                <a:srgbClr val="F8FAFC"/>
              </a:solidFill>
            </a:endParaRPr>
          </a:p>
          <a:p>
            <a:pPr marL="0" indent="0">
              <a:buNone/>
            </a:pPr>
            <a:r>
              <a:rPr lang="ru-RU" sz="1200" dirty="0">
                <a:solidFill>
                  <a:srgbClr val="F8FAFC"/>
                </a:solidFill>
              </a:rPr>
              <a:t>Работа: </a:t>
            </a:r>
            <a:r>
              <a:rPr lang="ru-RU" sz="1200" dirty="0" err="1">
                <a:solidFill>
                  <a:srgbClr val="F8FAFC"/>
                </a:solidFill>
              </a:rPr>
              <a:t>Шайдоров</a:t>
            </a:r>
            <a:r>
              <a:rPr lang="ru-RU" sz="1200" dirty="0">
                <a:solidFill>
                  <a:srgbClr val="F8FAFC"/>
                </a:solidFill>
              </a:rPr>
              <a:t> Даниил 15 группа - 4 курс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abstract_technology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234440"/>
            <a:ext cx="4160520" cy="23408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6492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именно проверялось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94360" y="960120"/>
            <a:ext cx="100584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737360" y="905256"/>
            <a:ext cx="5303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6C7D6"/>
                </a:solidFill>
              </a:rPr>
              <a:t>аудит как проверка логики, а не просто наличие разделов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49808" y="1559052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508760"/>
            <a:ext cx="5577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конкурентный анализ, SWOT и benchmarking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9808" y="2080260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029968"/>
            <a:ext cx="5577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SLA по IT, операциям и BD/Sales/Marketing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9808" y="2601468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551176"/>
            <a:ext cx="5577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ITIL-процессы, RACI и регламенты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9808" y="3122676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072384"/>
            <a:ext cx="5577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метрики, алерты, дашборд и runbook’и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9808" y="3643884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593592"/>
            <a:ext cx="5577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TCO, ROI, окупаемость и риск-допущения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49808" y="4165092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114800"/>
            <a:ext cx="5577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готовность к сбоям: DRP и Black Swan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49808" y="4983480"/>
            <a:ext cx="210312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GMFY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749808" y="5696712"/>
            <a:ext cx="2560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7D6"/>
                </a:solidFill>
              </a:rPr>
              <a:t>единый объект аудита после исправления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492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Сводная оценка работ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00584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905256"/>
            <a:ext cx="5303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6C7D6"/>
                </a:solidFill>
              </a:rPr>
              <a:t>средняя нормированная оценка основных заданий — около 85/100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6459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Задание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463040"/>
            <a:ext cx="4937760" cy="164592"/>
          </a:xfrm>
          <a:prstGeom prst="rect">
            <a:avLst/>
          </a:prstGeom>
          <a:solidFill>
            <a:srgbClr val="143B5A"/>
          </a:solidFill>
          <a:ln w="12700">
            <a:solidFill>
              <a:srgbClr val="143B5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463040"/>
            <a:ext cx="4197096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1389888"/>
            <a:ext cx="10515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102/120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67128"/>
            <a:ext cx="16459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Задание 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2212848"/>
            <a:ext cx="4937760" cy="164592"/>
          </a:xfrm>
          <a:prstGeom prst="rect">
            <a:avLst/>
          </a:prstGeom>
          <a:solidFill>
            <a:srgbClr val="143B5A"/>
          </a:solidFill>
          <a:ln w="12700">
            <a:solidFill>
              <a:srgbClr val="143B5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212848"/>
            <a:ext cx="4048963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2139696"/>
            <a:ext cx="10515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82/100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916936"/>
            <a:ext cx="16459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Задание 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2962656"/>
            <a:ext cx="4937760" cy="164592"/>
          </a:xfrm>
          <a:prstGeom prst="rect">
            <a:avLst/>
          </a:prstGeom>
          <a:solidFill>
            <a:srgbClr val="143B5A"/>
          </a:solidFill>
          <a:ln w="12700">
            <a:solidFill>
              <a:srgbClr val="143B5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2962656"/>
            <a:ext cx="4246474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2889504"/>
            <a:ext cx="10515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86/100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666744"/>
            <a:ext cx="16459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Задание 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0" y="3712464"/>
            <a:ext cx="4937760" cy="164592"/>
          </a:xfrm>
          <a:prstGeom prst="rect">
            <a:avLst/>
          </a:prstGeom>
          <a:solidFill>
            <a:srgbClr val="143B5A"/>
          </a:solidFill>
          <a:ln w="12700">
            <a:solidFill>
              <a:srgbClr val="143B5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3712464"/>
            <a:ext cx="4345229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3639312"/>
            <a:ext cx="10515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88/100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416552"/>
            <a:ext cx="16459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Black Swan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0" y="4462272"/>
            <a:ext cx="4937760" cy="164592"/>
          </a:xfrm>
          <a:prstGeom prst="rect">
            <a:avLst/>
          </a:prstGeom>
          <a:solidFill>
            <a:srgbClr val="143B5A"/>
          </a:solidFill>
          <a:ln w="12700">
            <a:solidFill>
              <a:srgbClr val="143B5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4462272"/>
            <a:ext cx="1728216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4389120"/>
            <a:ext cx="105156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3,5/10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486400"/>
            <a:ext cx="6675120" cy="502920"/>
          </a:xfrm>
          <a:prstGeom prst="roundRect">
            <a:avLst>
              <a:gd name="adj" fmla="val 21818"/>
            </a:avLst>
          </a:prstGeom>
          <a:solidFill>
            <a:srgbClr val="0F2A44"/>
          </a:solidFill>
          <a:ln>
            <a:solidFill>
              <a:srgbClr val="0F2A44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Главный вывод: работа сильная по аналитике, но слабее по эксплуатационной зрелости.</a:t>
            </a:r>
            <a:endParaRPr lang="en-US" sz="1500" dirty="0"/>
          </a:p>
        </p:txBody>
      </p:sp>
      <p:pic>
        <p:nvPicPr>
          <p:cNvPr id="26" name="Image 0" descr="/mnt/data/a_wide_dark_blue_futuristic_technology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417320"/>
            <a:ext cx="2834640" cy="15910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ark_blue_futuristic_technology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234440"/>
            <a:ext cx="4160520" cy="23408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6492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Задание 1: конкуренты и SLA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94360" y="960120"/>
            <a:ext cx="100584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737360" y="905256"/>
            <a:ext cx="5303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6C7D6"/>
                </a:solidFill>
              </a:rPr>
              <a:t>оценка 102/120 — сильная база, но нужен числовой benchmarking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1520" y="1325880"/>
            <a:ext cx="210312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102/120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2039112"/>
            <a:ext cx="2560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7D6"/>
                </a:solidFill>
              </a:rPr>
              <a:t>конкурентный анализ + SLA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1520" y="2473452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2423160"/>
            <a:ext cx="5852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конкуренты релевантны: «Пряники», Motivity, Эквио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2976372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2926080"/>
            <a:ext cx="5852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SLA закрывают IT, Ops и BD/Sales/Marketing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3479292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3429000"/>
            <a:ext cx="5852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сильная метрика: скорость загрузки JSON-конфига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398221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3931920"/>
            <a:ext cx="5852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слабое место: сравнение без шкалы 1–5 и весов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4892040"/>
            <a:ext cx="5943600" cy="566928"/>
          </a:xfrm>
          <a:prstGeom prst="roundRect">
            <a:avLst>
              <a:gd name="adj" fmla="val 19355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Правка: добавить числовой benchmarking и отдельный вывод о позиционировании GMFY.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492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Задание 2: ITIL и RACI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00584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905256"/>
            <a:ext cx="5303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6C7D6"/>
                </a:solidFill>
              </a:rPr>
              <a:t>оценка 82/100 — процессы выбраны правильно, ответственность надо уточнить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210312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82/100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947672"/>
            <a:ext cx="2560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7D6"/>
                </a:solidFill>
              </a:rPr>
              <a:t>Incident · Change · SLM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1325880" cy="457200"/>
          </a:xfrm>
          <a:prstGeom prst="roundRect">
            <a:avLst>
              <a:gd name="adj" fmla="val 24000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Инцидент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12848" y="2816352"/>
            <a:ext cx="3200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51760" y="2743200"/>
            <a:ext cx="1325880" cy="457200"/>
          </a:xfrm>
          <a:prstGeom prst="roundRect">
            <a:avLst>
              <a:gd name="adj" fmla="val 24000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Проблема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42232" y="2816352"/>
            <a:ext cx="3200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1463040" cy="457200"/>
          </a:xfrm>
          <a:prstGeom prst="roundRect">
            <a:avLst>
              <a:gd name="adj" fmla="val 24000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Изменение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99632" y="2816352"/>
            <a:ext cx="3200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743200"/>
            <a:ext cx="1143000" cy="457200"/>
          </a:xfrm>
          <a:prstGeom prst="roundRect">
            <a:avLst>
              <a:gd name="adj" fmla="val 24000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Релиз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93649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886200"/>
            <a:ext cx="5852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не хватает QA и JSON-разработчика в RACI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2112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370832"/>
            <a:ext cx="5852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A должен быть явно назначен на Change Manager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905756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855464"/>
            <a:ext cx="5852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нужна схема связи процессов и KPI регламентов</a:t>
            </a:r>
            <a:endParaRPr lang="en-US" sz="1400" dirty="0"/>
          </a:p>
        </p:txBody>
      </p:sp>
      <p:pic>
        <p:nvPicPr>
          <p:cNvPr id="20" name="Image 0" descr="/mnt/data/a_clean_modern_abstract_technology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325880"/>
            <a:ext cx="3931920" cy="2212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scene_of_a_modern_server_data_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417320"/>
            <a:ext cx="4251960" cy="2395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6492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Задание 3: метрики и дашборд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94360" y="960120"/>
            <a:ext cx="100584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737360" y="905256"/>
            <a:ext cx="5303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6C7D6"/>
                </a:solidFill>
              </a:rPr>
              <a:t>оценка 86/100 — метрики завязаны на бизнес-функции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1520" y="1143000"/>
            <a:ext cx="210312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86/100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856232"/>
            <a:ext cx="2560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7D6"/>
                </a:solidFill>
              </a:rPr>
              <a:t>observability уровня продукта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2697480" cy="685800"/>
          </a:xfrm>
          <a:prstGeom prst="roundRect">
            <a:avLst>
              <a:gd name="adj" fmla="val 16000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Reward Error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ошибки начисления наград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794760" y="2423160"/>
            <a:ext cx="2697480" cy="685800"/>
          </a:xfrm>
          <a:prstGeom prst="roundRect">
            <a:avLst>
              <a:gd name="adj" fmla="val 16000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P2P latency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скорость переводов и реакций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3383280"/>
            <a:ext cx="2697480" cy="685800"/>
          </a:xfrm>
          <a:prstGeom prst="roundRect">
            <a:avLst>
              <a:gd name="adj" fmla="val 16000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Checkout Error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ошибки магазина вознаграждений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794760" y="3383280"/>
            <a:ext cx="2697480" cy="685800"/>
          </a:xfrm>
          <a:prstGeom prst="roundRect">
            <a:avLst>
              <a:gd name="adj" fmla="val 16000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JSON Load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</a:rPr>
              <a:t>скорость конфигурации клиента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1520" y="478688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4736592"/>
            <a:ext cx="5943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главный минус: нет визуального макета дашборда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526237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5212080"/>
            <a:ext cx="5943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нужны runbook’и для каждого критического алерта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492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Задание 4: TCO, ROI и инвестиции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00584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905256"/>
            <a:ext cx="5303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6C7D6"/>
                </a:solidFill>
              </a:rPr>
              <a:t>оценка 88/100 — расчёт понятный, но нужны стресс-сценарии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298448"/>
            <a:ext cx="210312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88/100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560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7D6"/>
                </a:solidFill>
              </a:rPr>
              <a:t>финансовая модель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633472"/>
            <a:ext cx="1508760" cy="347472"/>
          </a:xfrm>
          <a:prstGeom prst="roundRect">
            <a:avLst>
              <a:gd name="adj" fmla="val 31579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6C7D6"/>
                </a:solidFill>
              </a:rPr>
              <a:t>CAPEX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44952"/>
            <a:ext cx="16459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</a:rPr>
              <a:t>6 млн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63240" y="2633472"/>
            <a:ext cx="1508760" cy="347472"/>
          </a:xfrm>
          <a:prstGeom prst="roundRect">
            <a:avLst>
              <a:gd name="adj" fmla="val 31579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6C7D6"/>
                </a:solidFill>
              </a:rPr>
              <a:t>OPEX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3044952"/>
            <a:ext cx="16459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</a:rPr>
              <a:t>5,5 млн/год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2080" y="2633472"/>
            <a:ext cx="1508760" cy="347472"/>
          </a:xfrm>
          <a:prstGeom prst="roundRect">
            <a:avLst>
              <a:gd name="adj" fmla="val 31579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6C7D6"/>
                </a:solidFill>
              </a:rPr>
              <a:t>ROI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3044952"/>
            <a:ext cx="16459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</a:rPr>
              <a:t>25%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60920" y="2633472"/>
            <a:ext cx="1508760" cy="347472"/>
          </a:xfrm>
          <a:prstGeom prst="roundRect">
            <a:avLst>
              <a:gd name="adj" fmla="val 31579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6C7D6"/>
                </a:solidFill>
              </a:rPr>
              <a:t>Payback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60920" y="3044952"/>
            <a:ext cx="16459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</a:rPr>
              <a:t>25 мес.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3977640"/>
            <a:ext cx="77724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79392"/>
            <a:ext cx="77724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7D6"/>
                </a:solidFill>
              </a:rPr>
              <a:t>Модель убедительна, но слишком зависит от adoption rate и сроков запуска.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506120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5010912"/>
            <a:ext cx="65836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добавить tornado-анализ чувствительности ROI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555498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5504688"/>
            <a:ext cx="65836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рассчитать NPV/IRR и учесть ИБ + DR в TCO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moody_futuristic_concept_art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43000"/>
            <a:ext cx="4937760" cy="2779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6492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Black Swan: слабая устойчивость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94360" y="960120"/>
            <a:ext cx="100584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737360" y="905256"/>
            <a:ext cx="5303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6C7D6"/>
                </a:solidFill>
              </a:rPr>
              <a:t>оценка 3,5/10 — recovery-дизайн описан фрагментарно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1520" y="1234440"/>
            <a:ext cx="210312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EF44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3,5/10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1947672"/>
            <a:ext cx="2560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7D6"/>
                </a:solidFill>
              </a:rPr>
              <a:t>готовность к катастрофам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1520" y="2409444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2359152"/>
            <a:ext cx="54864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нет формального Disaster Recovery Plan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290322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2852928"/>
            <a:ext cx="54864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RPO/RTO заявлены, но не доказаны тестами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339699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3346704"/>
            <a:ext cx="54864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не ограничен blast radius между клиентами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389077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3840480"/>
            <a:ext cx="54864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нет регулярных DR drills и post-mortem процесса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4919472"/>
            <a:ext cx="5440680" cy="530352"/>
          </a:xfrm>
          <a:prstGeom prst="roundRect">
            <a:avLst>
              <a:gd name="adj" fmla="val 20690"/>
            </a:avLst>
          </a:prstGeom>
          <a:solidFill>
            <a:srgbClr val="421A24"/>
          </a:solidFill>
          <a:ln>
            <a:solidFill>
              <a:srgbClr val="421A24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</a:rPr>
              <a:t>Главная мысль: для SaaS доверие продаётся вместе с функцией.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scene_of_a_modern_server_data_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325880"/>
            <a:ext cx="4160520" cy="23408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6492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IT-инфраструктура GMFY Tech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94360" y="960120"/>
            <a:ext cx="100584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737360" y="905256"/>
            <a:ext cx="5303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6C7D6"/>
                </a:solidFill>
              </a:rPr>
              <a:t>модель предприятия для масштабирования на внешний B2B-рынок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" y="1417320"/>
            <a:ext cx="6217920" cy="658368"/>
          </a:xfrm>
          <a:prstGeom prst="roundRect">
            <a:avLst>
              <a:gd name="adj" fmla="val 16667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Продуктовая среда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Kubernetes · PostgreSQL · Redis · Kafka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6217920" cy="658368"/>
          </a:xfrm>
          <a:prstGeom prst="roundRect">
            <a:avLst>
              <a:gd name="adj" fmla="val 16667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DevOps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GitLab · CI/CD · staging · контейнеры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429000"/>
            <a:ext cx="6217920" cy="658368"/>
          </a:xfrm>
          <a:prstGeom prst="roundRect">
            <a:avLst>
              <a:gd name="adj" fmla="val 16667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Наблюдаемость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Prometheus · Grafana · ELK · алерты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4434840"/>
            <a:ext cx="6217920" cy="658368"/>
          </a:xfrm>
          <a:prstGeom prst="roundRect">
            <a:avLst>
              <a:gd name="adj" fmla="val 16667"/>
            </a:avLst>
          </a:prstGeom>
          <a:solidFill>
            <a:srgbClr val="123B4E"/>
          </a:solidFill>
          <a:ln>
            <a:solidFill>
              <a:srgbClr val="123B4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Безопасность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</a:rPr>
              <a:t>MFA · VPN · Vault · WAF · SAST/SCA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492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Карта ключевых рисков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00584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905256"/>
            <a:ext cx="5303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6C7D6"/>
                </a:solidFill>
              </a:rPr>
              <a:t>самые опасные проблемы связаны с эксплуатацией, а не с идеей продукта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" y="5669280"/>
            <a:ext cx="2011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7D6"/>
                </a:solidFill>
              </a:rPr>
              <a:t>Средняя вероятность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60520" y="5669280"/>
            <a:ext cx="21031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7D6"/>
                </a:solidFill>
              </a:rPr>
              <a:t>Высокая вероятность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3675888"/>
            <a:ext cx="21031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7D6"/>
                </a:solidFill>
              </a:rPr>
              <a:t>Среднее влияние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60520" y="3675888"/>
            <a:ext cx="210312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6C7D6"/>
                </a:solidFill>
              </a:rPr>
              <a:t>Высокое влияние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2926080" cy="1234440"/>
          </a:xfrm>
          <a:prstGeom prst="roundRect">
            <a:avLst>
              <a:gd name="adj" fmla="val 8889"/>
            </a:avLst>
          </a:prstGeom>
          <a:solidFill>
            <a:srgbClr val="173553"/>
          </a:solidFill>
          <a:ln>
            <a:solidFill>
              <a:srgbClr val="173553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среднее влияние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поверхностный SWOT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60520" y="3931920"/>
            <a:ext cx="2926080" cy="1234440"/>
          </a:xfrm>
          <a:prstGeom prst="roundRect">
            <a:avLst>
              <a:gd name="adj" fmla="val 8889"/>
            </a:avLst>
          </a:prstGeom>
          <a:solidFill>
            <a:srgbClr val="421A24"/>
          </a:solidFill>
          <a:ln>
            <a:solidFill>
              <a:srgbClr val="421A24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высокое влияние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отсутствие DRP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2926080" cy="1234440"/>
          </a:xfrm>
          <a:prstGeom prst="roundRect">
            <a:avLst>
              <a:gd name="adj" fmla="val 8889"/>
            </a:avLst>
          </a:prstGeom>
          <a:solidFill>
            <a:srgbClr val="3F310C"/>
          </a:solidFill>
          <a:ln>
            <a:solidFill>
              <a:srgbClr val="3F310C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среднее влияние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размытый RACI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60520" y="2331720"/>
            <a:ext cx="2926080" cy="1234440"/>
          </a:xfrm>
          <a:prstGeom prst="roundRect">
            <a:avLst>
              <a:gd name="adj" fmla="val 8889"/>
            </a:avLst>
          </a:prstGeom>
          <a:solidFill>
            <a:srgbClr val="3F310C"/>
          </a:solidFill>
          <a:ln>
            <a:solidFill>
              <a:srgbClr val="3F310C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высокое влияние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</a:rPr>
              <a:t>пороги метрик, ROI-допущения</a:t>
            </a:r>
            <a:endParaRPr lang="en-US" sz="1300" dirty="0"/>
          </a:p>
        </p:txBody>
      </p:sp>
      <p:pic>
        <p:nvPicPr>
          <p:cNvPr id="13" name="Image 0" descr="/mnt/data/a_wide_dark_blue_futuristic_technology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325880"/>
            <a:ext cx="40690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492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План улучшений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00584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0" y="905256"/>
            <a:ext cx="53035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6C7D6"/>
                </a:solidFill>
              </a:rPr>
              <a:t>P0 — критично, P1 — важно, P2 — усиление качества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3108960" cy="3931920"/>
          </a:xfrm>
          <a:prstGeom prst="roundRect">
            <a:avLst>
              <a:gd name="adj" fmla="val 3529"/>
            </a:avLst>
          </a:prstGeom>
          <a:solidFill>
            <a:srgbClr val="421A24"/>
          </a:solidFill>
          <a:ln>
            <a:solidFill>
              <a:srgbClr val="421A24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P0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DRP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макет дашборда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анализ чувствительности ROI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единый объект аудита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26280" y="1417320"/>
            <a:ext cx="3108960" cy="3931920"/>
          </a:xfrm>
          <a:prstGeom prst="roundRect">
            <a:avLst>
              <a:gd name="adj" fmla="val 3529"/>
            </a:avLst>
          </a:prstGeom>
          <a:solidFill>
            <a:srgbClr val="3F310C"/>
          </a:solidFill>
          <a:ln>
            <a:solidFill>
              <a:srgbClr val="3F310C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P1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RACI с QA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benchmarking 1–5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business metrics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NPV/IRR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75320" y="1417320"/>
            <a:ext cx="3108960" cy="3931920"/>
          </a:xfrm>
          <a:prstGeom prst="roundRect">
            <a:avLst>
              <a:gd name="adj" fmla="val 3529"/>
            </a:avLst>
          </a:prstGeom>
          <a:solidFill>
            <a:srgbClr val="123955"/>
          </a:solidFill>
          <a:ln>
            <a:solidFill>
              <a:srgbClr val="123955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P2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runbook’и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post-mortem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словарь терминов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документация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loud_ful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51560"/>
            <a:ext cx="53035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Итоговый вывод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13232" y="1965960"/>
            <a:ext cx="566928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</a:rPr>
              <a:t>GMFY имеет сильную продуктовую и аналитическую основу, но перед масштабированием нужно усилить эксплуатационную зрелость.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31520" y="3296412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6112" y="3246120"/>
            <a:ext cx="5577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ответственность: RACI без серых зон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3817620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3767328"/>
            <a:ext cx="5577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наблюдаемость: дашборд + runbook’и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4338828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4288536"/>
            <a:ext cx="5577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финансы: сценарии и чувствительность ROI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4860036"/>
            <a:ext cx="82296" cy="8229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4809744"/>
            <a:ext cx="55778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</a:rPr>
              <a:t>надёжность: DRP, RPO/RTO и тесты восстановления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3232" y="5715000"/>
            <a:ext cx="40233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Спасибо за внимание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920</Words>
  <Application>Microsoft Office PowerPoint</Application>
  <PresentationFormat>Широкоэкранный</PresentationFormat>
  <Paragraphs>160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Учебный проект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Аудит проекта GMFY</dc:title>
  <dc:subject>Исправленная презентация по аудиту GMFY</dc:subject>
  <dc:creator>Гончаров Андрей</dc:creator>
  <cp:lastModifiedBy>kolabor31@gmail.com</cp:lastModifiedBy>
  <cp:revision>4</cp:revision>
  <dcterms:created xsi:type="dcterms:W3CDTF">2026-05-11T17:13:43Z</dcterms:created>
  <dcterms:modified xsi:type="dcterms:W3CDTF">2026-05-11T19:47:44Z</dcterms:modified>
</cp:coreProperties>
</file>